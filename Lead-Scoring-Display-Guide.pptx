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Lead Scoring Display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Segoe UI"/>
              </a:defRPr>
            </a:pPr>
            <a:r>
              <a:t>How to read Engagement and Profile scores  |  FY26 Q4 (July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Segoe UI"/>
              </a:defRPr>
            </a:pPr>
            <a:r>
              <a:t>Lead Scoring Training  •  Cisco 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How Lead Scoring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Segoe UI"/>
              </a:defRPr>
            </a:pPr>
            <a:r>
              <a:t>Two complementary scores combine into one actionable lead priority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2926080" cy="1005840"/>
          </a:xfrm>
          <a:prstGeom prst="round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Engagement</a:t>
            </a:r>
          </a:p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45 / 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417320"/>
            <a:ext cx="2926080" cy="1005840"/>
          </a:xfrm>
          <a:prstGeom prst="roundRect">
            <a:avLst/>
          </a:prstGeom>
          <a:solidFill>
            <a:srgbClr val="00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Profile</a:t>
            </a:r>
          </a:p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27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417320"/>
            <a:ext cx="2926080" cy="1005840"/>
          </a:xfrm>
          <a:prstGeom prst="roundRect">
            <a:avLst/>
          </a:prstGeom>
          <a:solidFill>
            <a:srgbClr val="6BB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Lead Score</a:t>
            </a:r>
          </a:p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72 /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6916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595B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595B"/>
                </a:solidFill>
                <a:latin typeface="Segoe UI"/>
              </a:defRPr>
            </a:pPr>
            <a:r>
              <a:t>=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43200"/>
            <a:ext cx="5303520" cy="3200400"/>
          </a:xfrm>
          <a:prstGeom prst="roundRect">
            <a:avLst/>
          </a:prstGeom>
          <a:solidFill>
            <a:srgbClr val="F2F4F6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26080"/>
            <a:ext cx="484632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528B"/>
                </a:solidFill>
                <a:latin typeface="Segoe UI"/>
              </a:defRPr>
            </a:pPr>
            <a:r>
              <a:t>Engagement Score</a:t>
            </a:r>
          </a:p>
          <a:p>
            <a:pPr>
              <a:spcAft>
                <a:spcPts val="600"/>
              </a:spcAft>
              <a:defRPr sz="1400" b="1">
                <a:solidFill>
                  <a:srgbClr val="007BC7"/>
                </a:solidFill>
                <a:latin typeface="Segoe UI"/>
              </a:defRPr>
            </a:pPr>
            <a:r>
              <a:t>Measures intent</a:t>
            </a:r>
          </a:p>
          <a:p>
            <a:pPr>
              <a:spcAft>
                <a:spcPts val="600"/>
              </a:spcAft>
              <a:defRPr sz="600" b="0">
                <a:solidFill>
                  <a:srgbClr val="58595B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58595B"/>
                </a:solidFill>
                <a:latin typeface="Segoe UI"/>
              </a:defRPr>
            </a:pPr>
            <a:r>
              <a:t>What did the lead do, and how recently?</a:t>
            </a:r>
          </a:p>
          <a:p>
            <a:pPr>
              <a:spcAft>
                <a:spcPts val="600"/>
              </a:spcAft>
              <a:defRPr sz="1300" b="0">
                <a:solidFill>
                  <a:srgbClr val="58595B"/>
                </a:solidFill>
                <a:latin typeface="Segoe UI"/>
              </a:defRPr>
            </a:pPr>
            <a:r>
              <a:t>12 behavioral signals with time decay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743200"/>
            <a:ext cx="5303520" cy="3200400"/>
          </a:xfrm>
          <a:prstGeom prst="roundRect">
            <a:avLst/>
          </a:prstGeom>
          <a:solidFill>
            <a:srgbClr val="F2F4F6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926080"/>
            <a:ext cx="484632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528B"/>
                </a:solidFill>
                <a:latin typeface="Segoe UI"/>
              </a:defRPr>
            </a:pPr>
            <a:r>
              <a:t>Profile Score</a:t>
            </a:r>
          </a:p>
          <a:p>
            <a:pPr>
              <a:spcAft>
                <a:spcPts val="600"/>
              </a:spcAft>
              <a:defRPr sz="1400" b="1">
                <a:solidFill>
                  <a:srgbClr val="0096A6"/>
                </a:solidFill>
                <a:latin typeface="Segoe UI"/>
              </a:defRPr>
            </a:pPr>
            <a:r>
              <a:t>Measures fit</a:t>
            </a:r>
          </a:p>
          <a:p>
            <a:pPr>
              <a:spcAft>
                <a:spcPts val="600"/>
              </a:spcAft>
              <a:defRPr sz="600" b="0">
                <a:solidFill>
                  <a:srgbClr val="58595B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58595B"/>
                </a:solidFill>
                <a:latin typeface="Segoe UI"/>
              </a:defRPr>
            </a:pPr>
            <a:r>
              <a:t>Who is the lead based on firmographics?</a:t>
            </a:r>
          </a:p>
          <a:p>
            <a:pPr>
              <a:spcAft>
                <a:spcPts val="600"/>
              </a:spcAft>
              <a:defRPr sz="1300" b="0">
                <a:solidFill>
                  <a:srgbClr val="58595B"/>
                </a:solidFill>
                <a:latin typeface="Segoe UI"/>
              </a:defRPr>
            </a:pPr>
            <a:r>
              <a:t>4 ICP attributes at 25% each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Sample Lead Score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Segoe UI"/>
              </a:defRPr>
            </a:pPr>
            <a:r>
              <a:t>What sales and marketing should see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528B"/>
                </a:solidFill>
                <a:latin typeface="Segoe UI"/>
              </a:defRPr>
            </a:pPr>
            <a:r>
              <a:t>Lead Score: 72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08760"/>
            <a:ext cx="2560320" cy="502920"/>
          </a:xfrm>
          <a:prstGeom prst="roundRect">
            <a:avLst/>
          </a:prstGeom>
          <a:solidFill>
            <a:srgbClr val="6BB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Hot Lead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3200400" cy="868680"/>
          </a:xfrm>
          <a:prstGeom prst="round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Engagement</a:t>
            </a:r>
          </a:p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45 /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40280"/>
            <a:ext cx="3200400" cy="868680"/>
          </a:xfrm>
          <a:prstGeom prst="roundRect">
            <a:avLst/>
          </a:prstGeom>
          <a:solidFill>
            <a:srgbClr val="00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Profile</a:t>
            </a:r>
          </a:p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27 / 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46120"/>
            <a:ext cx="6720840" cy="201168"/>
          </a:xfrm>
          <a:prstGeom prst="roundRect">
            <a:avLst/>
          </a:prstGeom>
          <a:solidFill>
            <a:srgbClr val="E5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246120"/>
            <a:ext cx="3024378" cy="201168"/>
          </a:xfrm>
          <a:prstGeom prst="round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703320"/>
            <a:ext cx="6720840" cy="201168"/>
          </a:xfrm>
          <a:prstGeom prst="roundRect">
            <a:avLst/>
          </a:prstGeom>
          <a:solidFill>
            <a:srgbClr val="E5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703320"/>
            <a:ext cx="1814626" cy="201168"/>
          </a:xfrm>
          <a:prstGeom prst="roundRect">
            <a:avLst/>
          </a:prstGeom>
          <a:solidFill>
            <a:srgbClr val="00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8595B"/>
                </a:solidFill>
                <a:latin typeface="Segoe UI"/>
              </a:defRPr>
            </a:pPr>
            <a:r>
              <a:t>Top drivers:</a:t>
            </a:r>
          </a:p>
          <a:p>
            <a:pPr>
              <a:spcAft>
                <a:spcPts val="800"/>
              </a:spcAft>
              <a:defRPr sz="1500" b="0">
                <a:solidFill>
                  <a:srgbClr val="58595B"/>
                </a:solidFill>
                <a:latin typeface="Segoe UI"/>
              </a:defRPr>
            </a:pPr>
            <a:r>
              <a:t>• Demo scheduled (last 7 days) — 25 / 25 pts</a:t>
            </a:r>
          </a:p>
          <a:p>
            <a:pPr>
              <a:spcAft>
                <a:spcPts val="800"/>
              </a:spcAft>
              <a:defRPr sz="1500" b="0">
                <a:solidFill>
                  <a:srgbClr val="58595B"/>
                </a:solidFill>
                <a:latin typeface="Segoe UI"/>
              </a:defRPr>
            </a:pPr>
            <a:r>
              <a:t>• Decision Maker: TDM — 25 / 25 pts</a:t>
            </a:r>
          </a:p>
          <a:p>
            <a:pPr>
              <a:spcAft>
                <a:spcPts val="800"/>
              </a:spcAft>
              <a:defRPr sz="1500" b="0">
                <a:solidFill>
                  <a:srgbClr val="58595B"/>
                </a:solidFill>
                <a:latin typeface="Segoe UI"/>
              </a:defRPr>
            </a:pPr>
            <a:r>
              <a:t>• Event attendance (last 14 days) — 17.5 / 25 pts</a:t>
            </a:r>
          </a:p>
          <a:p>
            <a:pPr>
              <a:spcAft>
                <a:spcPts val="800"/>
              </a:spcAft>
              <a:defRPr sz="1500" b="0">
                <a:solidFill>
                  <a:srgbClr val="58595B"/>
                </a:solidFill>
                <a:latin typeface="Segoe UI"/>
              </a:defRPr>
            </a:pPr>
            <a:r>
              <a:t>Tip: Show points earned vs. category maximum so reps understand both strength and headroom.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Engagement Score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Category weights from FY26 Q4 model (max 100 points total)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8686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371600"/>
                <a:gridCol w="2011680"/>
                <a:gridCol w="2194560"/>
              </a:tblGrid>
              <a:tr h="39389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Activity Category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Max Weight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Recency Windows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Frequency Rules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Demo (Scheduled)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7 / 14 / 30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/ More than 1</a:t>
                      </a:r>
                    </a:p>
                  </a:txBody>
                  <a:tcPr anchor="ctr"/>
                </a:tc>
              </a:tr>
              <a:tr h="39389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VDC Inbound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7 / 14 / 30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/ More than 1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Event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7 / 14 / 30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/ More than 1</a:t>
                      </a:r>
                    </a:p>
                  </a:txBody>
                  <a:tcPr anchor="ctr"/>
                </a:tc>
              </a:tr>
              <a:tr h="39389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Form Submit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7 / 14 / 30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/ More than 1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Video 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7 / 14 / 30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/ More than 1</a:t>
                      </a:r>
                    </a:p>
                  </a:txBody>
                  <a:tcPr anchor="ctr"/>
                </a:tc>
              </a:tr>
              <a:tr h="39389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Visited Website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7 / 14 / 30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/ More than 1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Visited Landing 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7 / 14 / 30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/ More than 1</a:t>
                      </a:r>
                    </a:p>
                  </a:txBody>
                  <a:tcPr anchor="ctr"/>
                </a:tc>
              </a:tr>
              <a:tr h="39389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Paid Media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7 / 14 / 30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/ More than 1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Email Clickthrough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7 / 14 / 30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/ More than 1</a:t>
                      </a:r>
                    </a:p>
                  </a:txBody>
                  <a:tcPr anchor="ctr"/>
                </a:tc>
              </a:tr>
              <a:tr h="39389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Event Registration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7 / 14 / 30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/ More than 1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Webinar Registration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7 / 14 / 30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/ More than 1</a:t>
                      </a:r>
                    </a:p>
                  </a:txBody>
                  <a:tcPr anchor="ctr"/>
                </a:tc>
              </a:tr>
              <a:tr h="3939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Webinar Attendance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7 / 14 / 30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/ More than 1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8595B"/>
                </a:solidFill>
                <a:latin typeface="Segoe UI"/>
              </a:defRPr>
            </a:pPr>
            <a:r>
              <a:t>Display tip: Use a horizontal bar per category showing points earned vs. max (e.g., Demo 25/25).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Engagement Recency Decay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Segoe UI"/>
              </a:defRPr>
            </a:pPr>
            <a:r>
              <a:t>Example: Demo (Scheduled) — 25% category weight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4572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914400"/>
                <a:gridCol w="91440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Frequency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Time Frame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Score %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Points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More than 1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7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25</a:t>
                      </a:r>
                    </a:p>
                  </a:txBody>
                  <a:tcPr anchor="ctr"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Time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7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90%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22.5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More than 1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14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20</a:t>
                      </a:r>
                    </a:p>
                  </a:txBody>
                  <a:tcPr anchor="ctr"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Time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14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17.5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More than 1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15</a:t>
                      </a:r>
                    </a:p>
                  </a:txBody>
                  <a:tcPr anchor="ctr"/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Time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30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12.5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55448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528B"/>
                </a:solidFill>
                <a:latin typeface="Segoe UI"/>
              </a:defRPr>
            </a:pPr>
            <a:r>
              <a:t>How to visualize decay</a:t>
            </a:r>
          </a:p>
          <a:p>
            <a:pPr>
              <a:spcAft>
                <a:spcPts val="600"/>
              </a:spcAft>
              <a:defRPr sz="800" b="0">
                <a:solidFill>
                  <a:srgbClr val="58595B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6BB345"/>
                </a:solidFill>
                <a:latin typeface="Segoe UI"/>
              </a:defRPr>
            </a:pPr>
            <a:r>
              <a:t>7 days  = highest points (green)</a:t>
            </a:r>
          </a:p>
          <a:p>
            <a:pPr>
              <a:spcAft>
                <a:spcPts val="600"/>
              </a:spcAft>
              <a:defRPr sz="1400" b="0">
                <a:solidFill>
                  <a:srgbClr val="F5A623"/>
                </a:solidFill>
                <a:latin typeface="Segoe UI"/>
              </a:defRPr>
            </a:pPr>
            <a:r>
              <a:t>14 days = medium points (amber)</a:t>
            </a:r>
          </a:p>
          <a:p>
            <a:pPr>
              <a:spcAft>
                <a:spcPts val="600"/>
              </a:spcAft>
              <a:defRPr sz="1400" b="0">
                <a:solidFill>
                  <a:srgbClr val="58595B"/>
                </a:solidFill>
                <a:latin typeface="Segoe UI"/>
              </a:defRPr>
            </a:pPr>
            <a:r>
              <a:t>30 days = lower points (gray)</a:t>
            </a:r>
          </a:p>
          <a:p>
            <a:pPr>
              <a:spcAft>
                <a:spcPts val="600"/>
              </a:spcAft>
              <a:defRPr sz="800" b="0">
                <a:solidFill>
                  <a:srgbClr val="58595B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58595B"/>
                </a:solidFill>
                <a:latin typeface="Segoe UI"/>
              </a:defRPr>
            </a:pPr>
            <a:r>
              <a:t>More than 1 time scores higher than at least 1 time within the same window.</a:t>
            </a:r>
          </a:p>
          <a:p>
            <a:pPr>
              <a:spcAft>
                <a:spcPts val="600"/>
              </a:spcAft>
              <a:defRPr sz="1300" b="0">
                <a:solidFill>
                  <a:srgbClr val="58595B"/>
                </a:solidFill>
                <a:latin typeface="Segoe UI"/>
              </a:defRPr>
            </a:pPr>
            <a:r>
              <a:t>Show an expiry badge on active signals (e.g., 'expires in 5 days').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Profile Score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Segoe UI"/>
              </a:defRPr>
            </a:pPr>
            <a:r>
              <a:t>ICP fit across four equal-weight categories (25% each)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713232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Profile Category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Weight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Top-scoring examples (points)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Decision Maker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TDM (25), Technical (18.75), BDM (12.5)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Job Level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Director (18.75), Vice President (18.75), Architect (6.25)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Job 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MIS/IT% (17.5), Network Management (17.5), Operations% (17.5)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Email Type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Corporate (25), Public (1.25)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657600"/>
            <a:ext cx="5303520" cy="2560320"/>
          </a:xfrm>
          <a:prstGeom prst="roundRect">
            <a:avLst/>
          </a:prstGeom>
          <a:solidFill>
            <a:srgbClr val="F2F4F6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8595B"/>
                </a:solidFill>
                <a:latin typeface="Segoe UI"/>
              </a:defRPr>
            </a:pPr>
            <a:r>
              <a:t>Sample profile fit (27/100):</a:t>
            </a:r>
          </a:p>
          <a:p>
            <a:pPr>
              <a:spcAft>
                <a:spcPts val="800"/>
              </a:spcAft>
              <a:defRPr sz="1400" b="0">
                <a:solidFill>
                  <a:srgbClr val="58595B"/>
                </a:solidFill>
                <a:latin typeface="Segoe UI"/>
              </a:defRPr>
            </a:pPr>
            <a:r>
              <a:t>✓ Decision Maker: TDM — 25/25</a:t>
            </a:r>
          </a:p>
          <a:p>
            <a:pPr>
              <a:spcAft>
                <a:spcPts val="800"/>
              </a:spcAft>
              <a:defRPr sz="1400" b="0">
                <a:solidFill>
                  <a:srgbClr val="58595B"/>
                </a:solidFill>
                <a:latin typeface="Segoe UI"/>
              </a:defRPr>
            </a:pPr>
            <a:r>
              <a:t>✓ Job Level: Director — 18.75/25</a:t>
            </a:r>
          </a:p>
          <a:p>
            <a:pPr>
              <a:spcAft>
                <a:spcPts val="800"/>
              </a:spcAft>
              <a:defRPr sz="1400" b="0">
                <a:solidFill>
                  <a:srgbClr val="58595B"/>
                </a:solidFill>
                <a:latin typeface="Segoe UI"/>
              </a:defRPr>
            </a:pPr>
            <a:r>
              <a:t>○ Job Department: Engineering — 6.25/25</a:t>
            </a:r>
          </a:p>
          <a:p>
            <a:pPr>
              <a:spcAft>
                <a:spcPts val="800"/>
              </a:spcAft>
              <a:defRPr sz="1400" b="0">
                <a:solidFill>
                  <a:srgbClr val="58595B"/>
                </a:solidFill>
                <a:latin typeface="Segoe UI"/>
              </a:defRPr>
            </a:pPr>
            <a:r>
              <a:t>✓ Email Type: Corporate — 25/25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84048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8595B"/>
                </a:solidFill>
                <a:latin typeface="Segoe UI"/>
              </a:defRPr>
            </a:pPr>
            <a:r>
              <a:t>Display tips:</a:t>
            </a:r>
          </a:p>
          <a:p>
            <a:pPr>
              <a:spcAft>
                <a:spcPts val="800"/>
              </a:spcAft>
              <a:defRPr sz="1400" b="0">
                <a:solidFill>
                  <a:srgbClr val="58595B"/>
                </a:solidFill>
                <a:latin typeface="Segoe UI"/>
              </a:defRPr>
            </a:pPr>
            <a:r>
              <a:t>• Use a checklist, not a dense lookup table</a:t>
            </a:r>
          </a:p>
          <a:p>
            <a:pPr>
              <a:spcAft>
                <a:spcPts val="800"/>
              </a:spcAft>
              <a:defRPr sz="1400" b="0">
                <a:solidFill>
                  <a:srgbClr val="58595B"/>
                </a:solidFill>
                <a:latin typeface="Segoe UI"/>
              </a:defRPr>
            </a:pPr>
            <a:r>
              <a:t>• Green = matched and contributing</a:t>
            </a:r>
          </a:p>
          <a:p>
            <a:pPr>
              <a:spcAft>
                <a:spcPts val="800"/>
              </a:spcAft>
              <a:defRPr sz="1400" b="0">
                <a:solidFill>
                  <a:srgbClr val="58595B"/>
                </a:solidFill>
                <a:latin typeface="Segoe UI"/>
              </a:defRPr>
            </a:pPr>
            <a:r>
              <a:t>• Gray = missing or low-value attribute</a:t>
            </a:r>
          </a:p>
          <a:p>
            <a:pPr>
              <a:spcAft>
                <a:spcPts val="800"/>
              </a:spcAft>
              <a:defRPr sz="1400" b="0">
                <a:solidFill>
                  <a:srgbClr val="58595B"/>
                </a:solidFill>
                <a:latin typeface="Segoe UI"/>
              </a:defRPr>
            </a:pPr>
            <a:r>
              <a:t>• Helps reps answer: 'Is this person worth pursuing?'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Recommended Score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Segoe UI"/>
              </a:defRPr>
            </a:pPr>
            <a:r>
              <a:t>Suggested thresholds for prioritization (adjust per campaign)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645920"/>
          <a:ext cx="9326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5943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Lead Score Range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Recommended Action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70 –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Immediate sales follow-up; assign to rep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Warm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40 – 69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Nurture with targeted content; monitor engagement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Cold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0 – 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Keep in marketing automation; low-touch outreach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" y="384048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8595B"/>
                </a:solidFill>
                <a:latin typeface="Segoe UI"/>
              </a:defRPr>
            </a:pPr>
            <a:r>
              <a:t>Key takeaways for any score display:</a:t>
            </a:r>
          </a:p>
          <a:p>
            <a:pPr>
              <a:spcAft>
                <a:spcPts val="800"/>
              </a:spcAft>
              <a:defRPr sz="1600" b="0">
                <a:solidFill>
                  <a:srgbClr val="58595B"/>
                </a:solidFill>
                <a:latin typeface="Segoe UI"/>
              </a:defRPr>
            </a:pPr>
            <a:r>
              <a:t>1. Show composite score + Engagement + Profile side by side</a:t>
            </a:r>
          </a:p>
          <a:p>
            <a:pPr>
              <a:spcAft>
                <a:spcPts val="800"/>
              </a:spcAft>
              <a:defRPr sz="1600" b="0">
                <a:solidFill>
                  <a:srgbClr val="58595B"/>
                </a:solidFill>
                <a:latin typeface="Segoe UI"/>
              </a:defRPr>
            </a:pPr>
            <a:r>
              <a:t>2. Always include top 3 drivers explaining why the score changed</a:t>
            </a:r>
          </a:p>
          <a:p>
            <a:pPr>
              <a:spcAft>
                <a:spcPts val="800"/>
              </a:spcAft>
              <a:defRPr sz="1600" b="0">
                <a:solidFill>
                  <a:srgbClr val="58595B"/>
                </a:solidFill>
                <a:latin typeface="Segoe UI"/>
              </a:defRPr>
            </a:pPr>
            <a:r>
              <a:t>3. Label recency clearly (7d / 14d / 30d) for engagement signals</a:t>
            </a:r>
          </a:p>
          <a:p>
            <a:pPr>
              <a:spcAft>
                <a:spcPts val="800"/>
              </a:spcAft>
              <a:defRPr sz="1600" b="0">
                <a:solidFill>
                  <a:srgbClr val="58595B"/>
                </a:solidFill>
                <a:latin typeface="Segoe UI"/>
              </a:defRPr>
            </a:pPr>
            <a:r>
              <a:t>4. Show points earned vs. maximum per category</a:t>
            </a:r>
          </a:p>
          <a:p>
            <a:pPr>
              <a:spcAft>
                <a:spcPts val="800"/>
              </a:spcAft>
              <a:defRPr sz="1600" b="0">
                <a:solidFill>
                  <a:srgbClr val="58595B"/>
                </a:solidFill>
                <a:latin typeface="Segoe UI"/>
              </a:defRPr>
            </a:pPr>
            <a:r>
              <a:t>5. Use color sparingly: green (strong), amber (moderate), gray (none/expired)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