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Lead Scoring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Detailed walkthroughs showing how engagement points are calculated</a:t>
            </a:r>
          </a:p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Amanda Chenery  •  Marketing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How Engagement Scoring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Segoe UI"/>
              </a:defRPr>
            </a:pPr>
            <a:r>
              <a:t>Every activity contributes points; the total determines the engagement level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5029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46634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528B"/>
                </a:solidFill>
                <a:latin typeface="Segoe UI"/>
              </a:defRPr>
            </a:pPr>
            <a:r>
              <a:t>How each activity is scored</a:t>
            </a:r>
          </a:p>
          <a:p>
            <a:pPr>
              <a:spcAft>
                <a:spcPts val="400"/>
              </a:spcAft>
              <a:defRPr sz="400" b="0">
                <a:solidFill>
                  <a:srgbClr val="58595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007BC7"/>
                </a:solidFill>
                <a:latin typeface="Segoe UI"/>
              </a:defRPr>
            </a:pPr>
            <a:r>
              <a:t>Points = Activity score % × Category weight %</a:t>
            </a:r>
          </a:p>
          <a:p>
            <a:pPr>
              <a:spcAft>
                <a:spcPts val="400"/>
              </a:spcAft>
              <a:defRPr sz="400" b="0">
                <a:solidFill>
                  <a:srgbClr val="58595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58595B"/>
                </a:solidFill>
                <a:latin typeface="Segoe UI"/>
              </a:defRPr>
            </a:pPr>
            <a:r>
              <a:t>Example: 90% score × 15% weight = 13.5 points</a:t>
            </a:r>
          </a:p>
          <a:p>
            <a:pPr>
              <a:spcAft>
                <a:spcPts val="400"/>
              </a:spcAft>
              <a:defRPr sz="1200" b="0">
                <a:solidFill>
                  <a:srgbClr val="58595B"/>
                </a:solidFill>
                <a:latin typeface="Segoe UI"/>
              </a:defRPr>
            </a:pPr>
            <a:r>
              <a:t>All qualifying activities in the look-back window are summed.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60720" y="118872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188720"/>
                <a:gridCol w="36576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Level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Score range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Meaning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76 – 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Hot — immediate follow-up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51 – 75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Warm-high — prioritise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26 – 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Warm — nurture and monitor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0 – 25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Cold — low-touch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3474720"/>
            <a:ext cx="113385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528B"/>
                </a:solidFill>
                <a:latin typeface="Segoe UI"/>
              </a:defRPr>
            </a:pPr>
            <a:r>
              <a:t>Key principles used in every example on the following slides:</a:t>
            </a:r>
          </a:p>
          <a:p>
            <a:pPr>
              <a:spcAft>
                <a:spcPts val="600"/>
              </a:spcAft>
              <a:defRPr sz="1300" b="0">
                <a:solidFill>
                  <a:srgbClr val="58595B"/>
                </a:solidFill>
                <a:latin typeface="Segoe UI"/>
              </a:defRPr>
            </a:pPr>
            <a:r>
              <a:t>• Only activities within the recency window (7, 14, or 30 days) contribute points.</a:t>
            </a:r>
          </a:p>
          <a:p>
            <a:pPr>
              <a:spcAft>
                <a:spcPts val="600"/>
              </a:spcAft>
              <a:defRPr sz="1300" b="0">
                <a:solidFill>
                  <a:srgbClr val="58595B"/>
                </a:solidFill>
                <a:latin typeface="Segoe UI"/>
              </a:defRPr>
            </a:pPr>
            <a:r>
              <a:t>• Higher-intent activities carry a larger category weight (e.g. demo = 25%, email click = 5%).</a:t>
            </a:r>
          </a:p>
          <a:p>
            <a:pPr>
              <a:spcAft>
                <a:spcPts val="600"/>
              </a:spcAft>
              <a:defRPr sz="1300" b="0">
                <a:solidFill>
                  <a:srgbClr val="58595B"/>
                </a:solidFill>
                <a:latin typeface="Segoe UI"/>
              </a:defRPr>
            </a:pPr>
            <a:r>
              <a:t>• Multiple activities stack — the running total is the sum of all qualifying points.</a:t>
            </a:r>
          </a:p>
          <a:p>
            <a:pPr>
              <a:spcAft>
                <a:spcPts val="600"/>
              </a:spcAft>
              <a:defRPr sz="1300" b="0">
                <a:solidFill>
                  <a:srgbClr val="58595B"/>
                </a:solidFill>
                <a:latin typeface="Segoe UI"/>
              </a:defRPr>
            </a:pPr>
            <a:r>
              <a:t>• Leads are routed to VDC when engagement is high enough AND profile fit is A, B, or 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Example 1: First-Touch Content Syndication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Contact enters Eloqua with only syndicated content activity — low score, no VDC routing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73152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3474720"/>
                <a:gridCol w="777240"/>
                <a:gridCol w="777240"/>
                <a:gridCol w="777240"/>
                <a:gridCol w="100584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Activity &amp; rule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Score %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Weight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Points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Running total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Form submit from Integrate (non-hand-raiser) — at least 1 time in last 7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9.0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9.0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Content syndication activity created — in last 7 days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90%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13.5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22.5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869680" y="1143000"/>
            <a:ext cx="3291840" cy="1828800"/>
          </a:xfrm>
          <a:prstGeom prst="roundRect">
            <a:avLst/>
          </a:prstGeom>
          <a:solidFill>
            <a:srgbClr val="F2F4F6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0" y="1280160"/>
            <a:ext cx="29260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528B"/>
                </a:solidFill>
                <a:latin typeface="Segoe UI"/>
              </a:defRPr>
            </a:pPr>
            <a:r>
              <a:t>Total engagement score: 22.5</a:t>
            </a:r>
          </a:p>
          <a:p>
            <a:pPr>
              <a:spcAft>
                <a:spcPts val="400"/>
              </a:spcAft>
              <a:defRPr sz="1500" b="1">
                <a:solidFill>
                  <a:srgbClr val="007BC7"/>
                </a:solidFill>
                <a:latin typeface="Segoe UI"/>
              </a:defRPr>
            </a:pPr>
            <a:r>
              <a:t>Engagement level: 1</a:t>
            </a:r>
          </a:p>
          <a:p>
            <a:pPr>
              <a:spcAft>
                <a:spcPts val="400"/>
              </a:spcAft>
              <a:defRPr sz="600" b="0">
                <a:solidFill>
                  <a:srgbClr val="58595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58595B"/>
                </a:solidFill>
                <a:latin typeface="Segoe UI"/>
              </a:defRPr>
            </a:pPr>
            <a:r>
              <a:t>Profile must also be A/B/C for any VDC routing.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3108960"/>
            <a:ext cx="3291840" cy="594360"/>
          </a:xfrm>
          <a:prstGeom prst="roundRect">
            <a:avLst/>
          </a:prstGeom>
          <a:solidFill>
            <a:srgbClr val="C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Low scored — no further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9260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28B"/>
                </a:solidFill>
                <a:latin typeface="Segoe UI"/>
              </a:defRPr>
            </a:pPr>
            <a:r>
              <a:t>Calculation check: 9.0 + 13.5 = 22.5</a:t>
            </a:r>
          </a:p>
          <a:p>
            <a:pPr>
              <a:defRPr sz="1200" b="0">
                <a:solidFill>
                  <a:srgbClr val="58595B"/>
                </a:solidFill>
                <a:latin typeface="Segoe UI"/>
              </a:defRPr>
            </a:pPr>
            <a:r>
              <a:t>Engagement level 1 (0–25) = cold. This lead stays in marketing nurture.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Example 2: Multi-Touch with Content Syndication Last Touch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Segoe UI"/>
              </a:defRPr>
            </a:pPr>
            <a:r>
              <a:t>Prior digital activity stacks; last-touch syndication pushes the score above the VDC threshold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73152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3474720"/>
                <a:gridCol w="777240"/>
                <a:gridCol w="777240"/>
                <a:gridCol w="777240"/>
                <a:gridCol w="100584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Activity &amp; rule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Score %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Weight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Points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Running total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Email click-through — in last 14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Website visit — in last 14 days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80%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Landing page visit — in last 14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24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Video watched — in last 7 days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Webinar watched — in last 7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48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Content syndication lead — in last 7 days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90%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13.5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61.5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869680" y="1143000"/>
            <a:ext cx="3291840" cy="1828800"/>
          </a:xfrm>
          <a:prstGeom prst="roundRect">
            <a:avLst/>
          </a:prstGeom>
          <a:solidFill>
            <a:srgbClr val="F2F4F6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0" y="1280160"/>
            <a:ext cx="29260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528B"/>
                </a:solidFill>
                <a:latin typeface="Segoe UI"/>
              </a:defRPr>
            </a:pPr>
            <a:r>
              <a:t>Total engagement score: 61.5</a:t>
            </a:r>
          </a:p>
          <a:p>
            <a:pPr>
              <a:spcAft>
                <a:spcPts val="400"/>
              </a:spcAft>
              <a:defRPr sz="1500" b="1">
                <a:solidFill>
                  <a:srgbClr val="007BC7"/>
                </a:solidFill>
                <a:latin typeface="Segoe UI"/>
              </a:defRPr>
            </a:pPr>
            <a:r>
              <a:t>Engagement level: 2</a:t>
            </a:r>
          </a:p>
          <a:p>
            <a:pPr>
              <a:spcAft>
                <a:spcPts val="400"/>
              </a:spcAft>
              <a:defRPr sz="600" b="0">
                <a:solidFill>
                  <a:srgbClr val="58595B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58595B"/>
                </a:solidFill>
                <a:latin typeface="Segoe UI"/>
              </a:defRPr>
            </a:pPr>
            <a:r>
              <a:t>Requires profile grade A, B, or 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3108960"/>
            <a:ext cx="3291840" cy="594360"/>
          </a:xfrm>
          <a:prstGeom prst="roundRect">
            <a:avLst/>
          </a:prstGeom>
          <a:solidFill>
            <a:srgbClr val="6BB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High scored — passed to VDC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Example 3: Event Registration —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Segoe UI"/>
              </a:defRPr>
            </a:pPr>
            <a:r>
              <a:t>Each registration adds points; score accumulates as the contact registers for more sessions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8915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560320"/>
                <a:gridCol w="2926080"/>
                <a:gridCol w="685800"/>
                <a:gridCol w="685800"/>
                <a:gridCol w="685800"/>
                <a:gridCol w="91440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Date &amp; event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Scoring rule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Score %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Weight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Points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Running total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8 May 2024 — Registers for Cisco Live (CLUS)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Registered at least 1 time in last 7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9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9 May 2024 — Registers for Keynote session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Registered more than 1 time in last 7 days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16 May 2024 — Registers for breakout session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Registered more than 1 time in last 7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3657600"/>
            <a:ext cx="11338560" cy="59436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After step 3: Total = 10 points  •  Engagement level 1  •  No further action (registrations alone)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480560"/>
            <a:ext cx="113385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8595B"/>
                </a:solidFill>
                <a:latin typeface="Segoe UI"/>
              </a:defRPr>
            </a:pPr>
            <a:r>
              <a:t>Logic → Eloqua identifies each registration transaction and matches it to the Event Registration category.</a:t>
            </a:r>
          </a:p>
          <a:p>
            <a:pPr>
              <a:spcAft>
                <a:spcPts val="800"/>
              </a:spcAft>
              <a:defRPr sz="1300" b="0">
                <a:solidFill>
                  <a:srgbClr val="58595B"/>
                </a:solidFill>
                <a:latin typeface="Segoe UI"/>
              </a:defRPr>
            </a:pPr>
            <a:r>
              <a:t>Calculation → Points = score % × 10% weight. Frequency rules (at least 1 vs. more than 1) determine the score %.</a:t>
            </a:r>
          </a:p>
          <a:p>
            <a:pPr>
              <a:spcAft>
                <a:spcPts val="800"/>
              </a:spcAft>
              <a:defRPr sz="1300" b="0">
                <a:solidFill>
                  <a:srgbClr val="58595B"/>
                </a:solidFill>
                <a:latin typeface="Segoe UI"/>
              </a:defRPr>
            </a:pPr>
            <a:r>
              <a:t>Action → Score accumulates but remains below the high-score threshold until attendance or additional activity occurs.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Example 4: Event Attendance —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Segoe UI"/>
              </a:defRPr>
            </a:pPr>
            <a:r>
              <a:t>Attendance carries a higher category weight (30%) and can trigger VDC routing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8915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560320"/>
                <a:gridCol w="2926080"/>
                <a:gridCol w="685800"/>
                <a:gridCol w="685800"/>
                <a:gridCol w="685800"/>
                <a:gridCol w="91440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Date &amp; event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Scoring rule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Score %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Weight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Points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Running total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 Jun 2024 — Attends Cisco Live (CLUS)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Attended at least 1 time in last 7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27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 Jun 2024 — Attends Keynote session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Attended more than 1 time in last 7 days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4 Jun 2024 — Attends breakout session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Attended more than 1 time in last 7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3657600"/>
            <a:ext cx="11338560" cy="594360"/>
          </a:xfrm>
          <a:prstGeom prst="roundRect">
            <a:avLst/>
          </a:prstGeom>
          <a:solidFill>
            <a:srgbClr val="6BB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After step 3: Total = 30 points  •  Engagement level 2  •  High-score lead if profile is 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Example 5: Why Older Registrations Still Count (with Decay)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Segoe UI"/>
              </a:defRPr>
            </a:pPr>
            <a:r>
              <a:t>Registrations from the last 30 days are included, but points are lower outside the 7-day window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43000"/>
            <a:ext cx="11338560" cy="822960"/>
          </a:xfrm>
          <a:prstGeom prst="roundRect">
            <a:avLst/>
          </a:prstGeom>
          <a:solidFill>
            <a:srgbClr val="FFF3CD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58595B"/>
                </a:solidFill>
                <a:latin typeface="Segoe UI"/>
              </a:defRPr>
            </a:pPr>
            <a:r>
              <a:t>When a contact attends an event, Eloqua also re-scores earlier registrations from the last 30 days — but at reduced score percentages due to recency decay.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2148840"/>
          <a:ext cx="8549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011680"/>
                <a:gridCol w="2560320"/>
                <a:gridCol w="685800"/>
                <a:gridCol w="685800"/>
                <a:gridCol w="685800"/>
                <a:gridCol w="91440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Activity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Scoring rule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Score %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Weight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Points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Running total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Registration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8 May — CLUS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 least 1 time, 30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Registration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9 May — Keynote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More than 1 time, 30 days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Registration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16 May — Breakout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More than 1 time, 30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60%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 anchor="ctr"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Attendance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 Jun — CLUS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 least 1 time, 7 days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90%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 Jun — Keynote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More than 1 time, 7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36</a:t>
                      </a:r>
                    </a:p>
                  </a:txBody>
                  <a:tcPr anchor="ctr"/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Attendance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4 Jun — Breakout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More than 1 time, 7 days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525780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8595B"/>
                </a:solidFill>
                <a:latin typeface="Segoe UI"/>
              </a:defRPr>
            </a:pPr>
            <a:r>
              <a:t>Older registrations still contribute at reduced 30-day decay rates. Fresh attendance at 7-day rates pushes the total to 36. Engagement level 3 → passed to VDC if profile is 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Example 6: Digital Touchpoints Before Event Registration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Segoe UI"/>
              </a:defRPr>
            </a:pPr>
            <a:r>
              <a:t>Email and web activity that preceded registration is also included in the final 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43000"/>
            <a:ext cx="11338560" cy="822960"/>
          </a:xfrm>
          <a:prstGeom prst="roundRect">
            <a:avLst/>
          </a:prstGeom>
          <a:solidFill>
            <a:srgbClr val="FFF3CD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58595B"/>
                </a:solidFill>
                <a:latin typeface="Segoe UI"/>
              </a:defRPr>
            </a:pPr>
            <a:r>
              <a:t>If the contact clicked an email to reach Cisco.com before registering, those transactions within the last 30 days are included alongside registrations and attendance.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2148840"/>
          <a:ext cx="85496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011680"/>
                <a:gridCol w="2560320"/>
                <a:gridCol w="685800"/>
                <a:gridCol w="685800"/>
                <a:gridCol w="685800"/>
                <a:gridCol w="914400"/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Activity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Scoring rule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Score %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Weight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Points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Running total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Digital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8 May — Email click-through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 least 1 time, 30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2.5</a:t>
                      </a:r>
                    </a:p>
                  </a:txBody>
                  <a:tcPr anchor="ctr"/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Digital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8 May — Landing page visit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 least 1 time, 30 days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7.5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10.0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Digital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8 May — Website visit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 least 1 time, 30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5.0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15.0</a:t>
                      </a:r>
                    </a:p>
                  </a:txBody>
                  <a:tcPr anchor="ctr"/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Registration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8 May — CLUS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 least 1 time, 30 days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5.0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20.0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Registration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9 May — Keynote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More than 1 time, 30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60%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6.0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21.0</a:t>
                      </a:r>
                    </a:p>
                  </a:txBody>
                  <a:tcPr anchor="ctr"/>
                </a:tc>
              </a:tr>
              <a:tr h="39189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Registration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16 May — Breakout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More than 1 time, 30 days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6.0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21.0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Example 7: Full Journey — All Touchpoints Combined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Complete timeline from first email click through event attendance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7909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2377440"/>
                <a:gridCol w="640080"/>
                <a:gridCol w="640080"/>
                <a:gridCol w="640080"/>
                <a:gridCol w="8686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Activity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Scoring rule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Score %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Weight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Points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Running total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Digital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8 May — Email click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 least 1, 30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2.5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Digital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8 May — Landing page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 least 1, 30 days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7.5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10.0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Digital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8 May — Website visit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 least 1, 30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5.0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15.0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Registration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8 May — CLUS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 least 1, 30 days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5.0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20.0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Registration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9 May — Keynote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More than 1, 30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60%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6.0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21.0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Registration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16 May — Breakout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More than 1, 30 days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6.0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21.0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 Jun — CLUS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 least 1, 7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27.0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48.0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Attendance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 Jun — Keynote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More than 1, 7 days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30.0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51.0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4 Jun — Breakout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More than 1, 7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51.0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5440680"/>
            <a:ext cx="11338560" cy="594360"/>
          </a:xfrm>
          <a:prstGeom prst="roundRect">
            <a:avLst/>
          </a:prstGeom>
          <a:solidFill>
            <a:srgbClr val="6BB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Final total = 51  •  Engagement level 2  •  Passed to VDC if profile is A, B, or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1722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8595B"/>
                </a:solidFill>
                <a:latin typeface="Segoe UI"/>
              </a:defRPr>
            </a:pPr>
            <a:r>
              <a:t>This matches the original full-view example: digital + registration (30-day decay) + attendance (7-day) all stack to produce the final engagement score.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5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Summary: When Does a Lead Route to VDC?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Segoe UI"/>
              </a:defRPr>
            </a:pPr>
            <a:r>
              <a:t>Engagement score and profile grade must both qualify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640080"/>
                <a:gridCol w="128016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Example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Engagement total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Level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Outcome</a:t>
                      </a:r>
                    </a:p>
                  </a:txBody>
                  <a:tcPr anchor="ctr">
                    <a:solidFill>
                      <a:srgbClr val="00528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First-touch syndication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No action</a:t>
                      </a:r>
                    </a:p>
                  </a:txBody>
                  <a:tcPr anchor="ctr"/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Multi-touch syndication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61.5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Passed to VDC*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Event registration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No action</a:t>
                      </a:r>
                    </a:p>
                  </a:txBody>
                  <a:tcPr anchor="ctr"/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Event attendance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High score if profile A*</a:t>
                      </a:r>
                    </a:p>
                  </a:txBody>
                  <a:tcPr anchor="ctr">
                    <a:solidFill>
                      <a:srgbClr val="F2F4F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Full journey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8595B"/>
                          </a:solidFill>
                          <a:latin typeface="Segoe UI"/>
                        </a:defRPr>
                      </a:pPr>
                      <a:r>
                        <a:t>Passed to VDC*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137160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528B"/>
                </a:solidFill>
                <a:latin typeface="Segoe UI"/>
              </a:defRPr>
            </a:pPr>
            <a:r>
              <a:t>Routing rules</a:t>
            </a:r>
          </a:p>
          <a:p>
            <a:pPr>
              <a:spcAft>
                <a:spcPts val="500"/>
              </a:spcAft>
              <a:defRPr sz="600" b="0">
                <a:solidFill>
                  <a:srgbClr val="58595B"/>
                </a:solidFill>
                <a:latin typeface="Segoe UI"/>
              </a:defRPr>
            </a:pPr>
          </a:p>
          <a:p>
            <a:pPr>
              <a:spcAft>
                <a:spcPts val="500"/>
              </a:spcAft>
              <a:defRPr sz="1400" b="1">
                <a:solidFill>
                  <a:srgbClr val="007BC7"/>
                </a:solidFill>
                <a:latin typeface="Segoe UI"/>
              </a:defRPr>
            </a:pPr>
            <a:r>
              <a:t>* VDC routing also requires:</a:t>
            </a:r>
          </a:p>
          <a:p>
            <a:pPr>
              <a:spcAft>
                <a:spcPts val="500"/>
              </a:spcAft>
              <a:defRPr sz="1300" b="0">
                <a:solidFill>
                  <a:srgbClr val="58595B"/>
                </a:solidFill>
                <a:latin typeface="Segoe UI"/>
              </a:defRPr>
            </a:pPr>
            <a:r>
              <a:t>• Profile grade A, B, or C</a:t>
            </a:r>
          </a:p>
          <a:p>
            <a:pPr>
              <a:spcAft>
                <a:spcPts val="500"/>
              </a:spcAft>
              <a:defRPr sz="1300" b="0">
                <a:solidFill>
                  <a:srgbClr val="58595B"/>
                </a:solidFill>
                <a:latin typeface="Segoe UI"/>
              </a:defRPr>
            </a:pPr>
            <a:r>
              <a:t>• Valid CCID present</a:t>
            </a:r>
          </a:p>
          <a:p>
            <a:pPr>
              <a:spcAft>
                <a:spcPts val="500"/>
              </a:spcAft>
              <a:defRPr sz="1300" b="0">
                <a:solidFill>
                  <a:srgbClr val="58595B"/>
                </a:solidFill>
                <a:latin typeface="Segoe UI"/>
              </a:defRPr>
            </a:pPr>
            <a:r>
              <a:t>• Not AU Public Sector (unless exempt)</a:t>
            </a:r>
          </a:p>
          <a:p>
            <a:pPr>
              <a:spcAft>
                <a:spcPts val="500"/>
              </a:spcAft>
              <a:defRPr sz="1300" b="0">
                <a:solidFill>
                  <a:srgbClr val="58595B"/>
                </a:solidFill>
                <a:latin typeface="Segoe UI"/>
              </a:defRPr>
            </a:pPr>
            <a:r>
              <a:t>• Passes Program 389 validation</a:t>
            </a:r>
          </a:p>
          <a:p>
            <a:pPr>
              <a:spcAft>
                <a:spcPts val="500"/>
              </a:spcAft>
              <a:defRPr sz="600" b="0">
                <a:solidFill>
                  <a:srgbClr val="58595B"/>
                </a:solidFill>
                <a:latin typeface="Segoe UI"/>
              </a:defRPr>
            </a:pPr>
          </a:p>
          <a:p>
            <a:pPr>
              <a:spcAft>
                <a:spcPts val="500"/>
              </a:spcAft>
              <a:defRPr sz="1400" b="1">
                <a:solidFill>
                  <a:srgbClr val="00528B"/>
                </a:solidFill>
                <a:latin typeface="Segoe UI"/>
              </a:defRPr>
            </a:pPr>
            <a:r>
              <a:t>Remember:</a:t>
            </a:r>
          </a:p>
          <a:p>
            <a:pPr>
              <a:spcAft>
                <a:spcPts val="500"/>
              </a:spcAft>
              <a:defRPr sz="1300" b="0">
                <a:solidFill>
                  <a:srgbClr val="58595B"/>
                </a:solidFill>
                <a:latin typeface="Segoe UI"/>
              </a:defRPr>
            </a:pPr>
            <a:r>
              <a:t>Points = Score % × Weight %</a:t>
            </a:r>
          </a:p>
          <a:p>
            <a:pPr>
              <a:spcAft>
                <a:spcPts val="500"/>
              </a:spcAft>
              <a:defRPr sz="1300" b="0">
                <a:solidFill>
                  <a:srgbClr val="58595B"/>
                </a:solidFill>
                <a:latin typeface="Segoe UI"/>
              </a:defRPr>
            </a:pPr>
            <a:r>
              <a:t>All qualifying activities in the look-back window sum to the total.</a:t>
            </a:r>
          </a:p>
          <a:p>
            <a:pPr>
              <a:spcAft>
                <a:spcPts val="500"/>
              </a:spcAft>
              <a:defRPr sz="1300" b="0">
                <a:solidFill>
                  <a:srgbClr val="58595B"/>
                </a:solidFill>
                <a:latin typeface="Segoe UI"/>
              </a:defRPr>
            </a:pPr>
            <a:r>
              <a:t>Recency decay reduces points for older activity (30-day &lt; 14-day &lt; 7-day).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